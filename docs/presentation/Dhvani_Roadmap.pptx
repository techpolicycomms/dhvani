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1097280" cy="54864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003366"/>
                </a:solidFill>
                <a:latin typeface="Calibri"/>
              </a:rPr>
              <a:t>DHVANI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007AAD"/>
                </a:solidFill>
                <a:latin typeface="Calibri"/>
              </a:rPr>
              <a:t>Product Development &amp; 12-Month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374151"/>
                </a:solidFill>
                <a:latin typeface="Calibri"/>
              </a:rPr>
              <a:t>From Innovation Pilot to ITU's Default Transcription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Presented to   Director  ·  CIO  ·  ISD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ITU Innovation Hub   · 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03504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07AAD"/>
                </a:solidFill>
                <a:latin typeface="Calibri"/>
              </a:rPr>
              <a:t>INTERNAL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ITU does not need to buy a transcription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Calibri"/>
              </a:rPr>
              <a:t>ITU needs a tool native to how ITU actually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16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Six UN languages, with mid-sentence code-switch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Study Group and Bureau acronyms built in by default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Delegates attributed by country and role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Formal ITU-style record outputs — not plain transcripts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Data inside the ITU Azure tenant, never outside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74151"/>
                </a:solidFill>
                <a:latin typeface="Calibri"/>
              </a:rPr>
              <a:t>•  Under $2 per user per month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Dhvani already has the engine. In 12 months, Dhvani becomes the default tool every ITU staff member, delegate, and observer reaches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PROBLEM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ITU staff lose hours each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Re-listening to meetings to extract what was actually decided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Translating quotes across six official UN languages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Hand-typing delegate attributions and country names into notes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Rewriting transcripts into ITU's formal record formats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•  Searching across Outlook, OneDrive, and notebooks for "what we decided last time"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AAD"/>
                </a:solidFill>
                <a:latin typeface="Calibri"/>
              </a:rPr>
              <a:t>Generic transcription tools don't solve any of this. They weren't designed for the 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WHY COMMERCIAL TOOLS FAIL ITU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One table — for any Bureau director who asks.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02920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417320"/>
            <a:ext cx="310896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50876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Commercial 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417320"/>
            <a:ext cx="301752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5087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Dhvani (planned)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Six UN languages + mid-sentence code-switch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92024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01168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Weak or English-only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920240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First-class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23160"/>
            <a:ext cx="50292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ITU vocabulary (SG-17, WTSA, CPM, RRB, PP, TD)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423160"/>
            <a:ext cx="31089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51460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Treated as noise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423160"/>
            <a:ext cx="3017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5146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Pre-loaded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175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Delegate recognition by country and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92608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01752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Generic "Speaker 1"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926080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30175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"Canada (Chair)", "Secretariat"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50292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2044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Formal output templates (ITU-T, ITU-R, verbatim)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429000"/>
            <a:ext cx="31089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352044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Plain transcript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429000"/>
            <a:ext cx="3017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52044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Native ITU templates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02336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Data residency in ITU Azure tenant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93192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402336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931920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40233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34840"/>
            <a:ext cx="50292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52628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Per-user cost at 10,000 staff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4434840"/>
            <a:ext cx="31089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452628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Prohibitive per-seat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4434840"/>
            <a:ext cx="30175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45262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Under $2/month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WHERE DHVANI IS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Ninety percent of the foundation is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Next.js 14 PWA + Electron desktop wrapper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Microsoft Entra SSO inside the ITU tenant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Azure OpenAI transcription (gpt-4o-transcribe-diarize) + summary (gpt-4.1-mini), server-side only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Personal and Power modes for different user workflows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Dark mode, keyboard shortcuts, WCAG-AA palette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Crash recovery with OPFS chunk persistence + silent auto-retry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Azure Blob storage backend, durable across redeploys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74151"/>
                </a:solidFill>
                <a:latin typeface="Calibri"/>
              </a:rPr>
              <a:t>•  Official ITU brand identity — #009CD6 blue, Noto Sans, lucide iconography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5216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7AAD"/>
                </a:solidFill>
                <a:latin typeface="Calibri"/>
              </a:rPr>
              <a:t>Ready for internal beta.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THE 12-MONTH ROADMAP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Four phases. One goal each. Explicit non-goals.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" y="1828800"/>
            <a:ext cx="2651760" cy="310896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0574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331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7AAD"/>
                </a:solidFill>
                <a:latin typeface="Calibri"/>
              </a:rPr>
              <a:t>Weeks 0–4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834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7AAD"/>
                </a:solidFill>
                <a:latin typeface="Calibri"/>
              </a:rPr>
              <a:t>Polish &amp;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84048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07AAD"/>
                </a:solidFill>
                <a:latin typeface="Calibri"/>
              </a:rPr>
              <a:t>Ship to 50 HQ beta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2647" y="1828800"/>
            <a:ext cx="2651760" cy="310896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247" y="20574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366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2331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3366"/>
                </a:solidFill>
                <a:latin typeface="Calibri"/>
              </a:rPr>
              <a:t>Weeks 5–12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2834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Calibri"/>
              </a:rPr>
              <a:t>ITU-Native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247" y="384048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Calibri"/>
              </a:rPr>
              <a:t>"Oh, this is made for us"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1828800"/>
            <a:ext cx="2651760" cy="310896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20574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331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Weeks 13–26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834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Workflow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84048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Feels like part of ITU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1927" y="1828800"/>
            <a:ext cx="2651760" cy="3108960"/>
          </a:xfrm>
          <a:prstGeom prst="rect">
            <a:avLst/>
          </a:prstGeom>
          <a:solidFill>
            <a:srgbClr val="007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0527" y="20574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0527" y="2331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Weeks 27–52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0527" y="28346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0527" y="384048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Post-meeting value &gt; meeting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Non-goals are explicit at every phase. We do not ship features not on the 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PHASE 1  ·  Weeks 0–4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Polish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AAD"/>
                </a:solidFill>
                <a:latin typeface="Calibri"/>
              </a:rPr>
              <a:t>Goal:  50 HQ beta users, no embarrassing moments, ready to invite leadership.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Must 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1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Merge current branch to main; tag v1.0.0-rc1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Azure Blob transcript storage ON in production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Entra + secrets migrated to Azure Key Vault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App Insights instrumentation with 5 north-star metrics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GitHub Actions release pipeline — signed .dmg and .exe per tag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WCAG 2.2 AA audit + one screen-reader walkthrough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60-second onboarding flow that lands the first transcript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Metric gate:  50 beta users, no P1 incident, NPS &gt; 30, ISD sign-off on v1.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PHASE 2  ·  Weeks 5–12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ITU-Native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AAD"/>
                </a:solidFill>
                <a:latin typeface="Calibri"/>
              </a:rPr>
              <a:t>Goal:  The first demo where an ITU person says "this is actually made for us".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Must 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1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Multilingual robustness — per-chunk language hint, mid-sentence code-switch, RTL Arabic tuned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ITU vocabulary pack — 150+ acronyms pre-loaded by default (SG, WG, CPM, PP, RRB, TD)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Delegate recognition — auto-pull attendee list from Outlook invite, map to Country + Role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Formal export templates — ITU-T summary, ITU-R CPM, plenary verbatim, Bureau memo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Meeting directory — saved transcripts auto-tagged with Study Group, Question, Bureau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Metric gate:  500 active users. Two Study Groups as primary adopters. One director quote.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PHASE 3  ·  Weeks 13–26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Workflow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AAD"/>
                </a:solidFill>
                <a:latin typeface="Calibri"/>
              </a:rPr>
              <a:t>Goal:  Dhvani feels like part of ITU, not a separate tool bolted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Must 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1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Outlook add-in — "Transcribe this meeting" button on calendar invites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Teams bot — joins as passive participant (with CIO policy approval)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SharePoint sync — transcripts + action items land in Bureau libraries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Planner / Tasks — extracted action items become assigned tasks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Email digest — yesterday's meetings, action items, decisions owed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Document pipeline — export into ITU-T/R/D document systems as draft TDs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Mobile-native polish — first-class phone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Metric gate:  2,000 active users. 30% of internal Teams meetings transcribed. First external UN agency requests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PHASE 4  ·  Weeks 27–52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solidFill>
            <a:srgbClr val="E5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AAD"/>
                </a:solidFill>
                <a:latin typeface="Calibri"/>
              </a:rPr>
              <a:t>Goal:  Post-meeting value exceeds the meeting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Must 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1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Library search — fuzzy search + filter chips across everything you've recorded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Ask Dhvani — personal RAG over your meeting history, with citations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Meeting analytics per Bureau — talk-time equity, decision velocity, topic trends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Live translation view — French speaker → English subtitles during live recording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Automatic decision log per Study Group, curated from all its transcripts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Live captions in the recording view; sign-language interpreter coordination cue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 Federated Dhvani — SSO for other UN agencies (stretch)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Metric gate:  3,000 MAU. Under $2/user/month. 99.5% availability. First Member State requests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THE "WOW"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Five minutes. Memorize it. No commercial tool does this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27048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Open Outlook. Click "Transcribe" on a Teams invite titled SG-17 Rapporteur ·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500" y="1947672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85416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09:58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12848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Dhvani opens pre-configured. Banner: "Ready for SG-17 · starts in 2 min."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8500" y="2606040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843784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71216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Meeting begins. Transcript fills live. Speakers labeled Kenya, France (Chair), Secretariat.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8500" y="3264408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502152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10:04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29584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Delegate switches to French mid-sentence. Transcript captures French faithfully; English gloss toggle.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8500" y="3922776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10:47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Meeting ends. Click "Generate ITU-T summary record". Formal .docx with ITU header + TOC.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8500" y="4581144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818888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17:00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46320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Email digest: "From today's SG-17 meeting: 3 decisions, 4 action items, 2 are yours."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8500" y="5239512"/>
            <a:ext cx="9000" cy="548640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477256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504688"/>
            <a:ext cx="9628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Cmd+K: "what did we decide about spectrum for IMT-2030?" — cited answer across 3 meetings.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UI/UX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Five visible shifts that change "pilot" to "product".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60-second welcome flow that ends with confetti and a transcript — not a docs link.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73152" cy="20116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Record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Big circular breathing button with live waveform + speaker-color highlighting.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20116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Speaker pills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Country flag + role: 🇰🇪 Kenya, 🇫🇷 France · Chair, Secretariat.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356616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20116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Recap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Formal-document view that looks like an ITU TD — header, TOC, page numbers.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56616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73152" cy="20116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AD"/>
                </a:solidFill>
                <a:latin typeface="Calibri"/>
              </a:rPr>
              <a:t>Command palette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Cmd+K — the power-user signal that makes engineers take you seriously.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Plus: Noto Sans with tabular numerals  ·  ITU blue used sparingly as accent  ·  dark mode as designed, not inverted.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FEATURE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Ruthless scope control. Nothing off-list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566160" cy="5486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★★★★★  Five-star — must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566160" cy="4023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Multilingual code-switch (P2)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ITU vocabulary pack (P2, small)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Delegate recognition (P2)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566160" cy="548640"/>
          </a:xfrm>
          <a:prstGeom prst="rect">
            <a:avLst/>
          </a:prstGeom>
          <a:solidFill>
            <a:srgbClr val="007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★★★★  Four-star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566160" cy="4023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004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Formal export templates (P2)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Outlook add-in (P3)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Teams bot (P3, needs policy)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Ask Dhvani personal RAG (P4)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Live translation view (P4)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3566160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★★★  Three-star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66160" cy="4023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2004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Library search + fuzzy filter (P2)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Command palette / Cmd+K (P2)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Mobile-native polish (P3)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SharePoint sync (P3)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Email digest (P3)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•  Bureau analytics (P4)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SUCCESS METRICS AT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Shared monthly with Bureau directors.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Monthly active users across HQ + regional offices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463040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63040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828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&gt;50%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7889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of internal Teams meetings transcribed via Dhvani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463040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828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&lt;5%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7889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mis-labeled-speaker rate on the ITU eval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463040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463040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828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&lt;$2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7889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per user per month all-in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30752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30752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96512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99.5%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566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availability; p95 chunk latency &lt; 6s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4992" y="3730752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64992" y="3730752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4096512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50566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code-switch segments transcribed correctly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3730752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3730752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096512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1+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50566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external UN agency formally requesting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3730752"/>
            <a:ext cx="265176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7696" y="3730752"/>
            <a:ext cx="2651760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096512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7AAD"/>
                </a:solidFill>
                <a:latin typeface="Calibri"/>
              </a:rPr>
              <a:t>3+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50566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unsolicited mentions in a Bureau director meeting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RISKS  &amp;  HONEST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We name the risks. We name the fixes. No hand-waving.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Multilingual quality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727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Dedicated eng-month in P2 on per-language prompt tuning + eval harness.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91672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Teams bot blocked by M365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585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Raise to CIO at month 3. Product works without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443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LLM cost drift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443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Per-user + monthly org caps already live. PTU at 10k users.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11091672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301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Privacy pushback on voice archival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6301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Archival is OFF by default. Turn on only with legal sign-off.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109167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Adoption plateau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159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Champions program, leadership seeding, office hours, peer-pressure dashboard.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11091672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73152" cy="685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0176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Bus 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001768"/>
            <a:ext cx="63367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Two engineers — not one. HANDOFF.md + runbooks in place.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THE ASK  —  FIVE UNBLOCKS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Five decisions from leadership make this plan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40080" cy="7772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Calibri"/>
              </a:rPr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0200"/>
            <a:ext cx="770839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2 engineers + 0.5 designer × 9 months  ·  ≈ $400k all-in  ·  cheaper than buying commercial at ITU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640080" cy="7772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Calibri"/>
              </a:rPr>
              <a:t>Azure OpenAI TPM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468880"/>
            <a:ext cx="770839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Raise tokens-per-minute to 500K per region.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640080" cy="7772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Calibri"/>
              </a:rPr>
              <a:t>Entra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337560"/>
            <a:ext cx="770839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Migrate to an ISD-owned app registry so we can issue production-grade tokens.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640080" cy="7772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Calibri"/>
              </a:rPr>
              <a:t>Privacy pathway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06240"/>
            <a:ext cx="770839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Open a review track for voice-audio archival; it is scaffolded but not wired.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640080" cy="77724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749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Calibri"/>
              </a:rPr>
              <a:t>Executive sponsor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074920"/>
            <a:ext cx="770839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Name one Bureau director as champion and first live-adopter.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AAD"/>
                </a:solidFill>
                <a:latin typeface="Calibri"/>
              </a:rPr>
              <a:t>Say yes to these five. We commit to the plan. Everything else we'll figure 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7AAD"/>
                </a:solidFill>
                <a:latin typeface="Calibri"/>
              </a:rPr>
              <a:t>NEXT 14 DAYS  —  NO APPROVALS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Work that starts Monday. No blockers.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Land current branch to main after PR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7627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Stand up App Insights; wire five north-star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2491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Ship ITU vocabulary pack v1 (150 hand-curated acronyms)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73551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399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Add Cmd+K command palette (hooks into existing shortcuts)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Run first E2E test suite against the build; publish the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Produce the 5-slide demo deck of the "wow" moment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24912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Identify five executive beta users; send invite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73551"/>
            <a:ext cx="201168" cy="201168"/>
          </a:xfrm>
          <a:prstGeom prst="rect">
            <a:avLst/>
          </a:prstGeom>
          <a:solidFill>
            <a:srgbClr val="FFFFFF"/>
          </a:solidFill>
          <a:ln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399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Draft the Phase 2 engineering plan; present at next staff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Dhvani  ·  Internal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B7E4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Three windows are open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78608"/>
            <a:ext cx="182880" cy="1828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106801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Azure OpenAI capability has caught up to ITU's multilingual needs (it wasn't true a year ago).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182880" cy="1828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06801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Commercial transcription is consolidating on English-first, general-purpose — the UN niche is structurally unserved.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41648"/>
            <a:ext cx="182880" cy="18288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106801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ITU's Innovation Hub has built and proven the engine. The graduation window to ISD is open 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20640"/>
            <a:ext cx="11091672" cy="36576"/>
          </a:xfrm>
          <a:prstGeom prst="rect">
            <a:avLst/>
          </a:prstGeom>
          <a:solidFill>
            <a:srgbClr val="4FB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Move in the next twelve months.  Dhvani becomes ITU's tool.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FB7E4"/>
                </a:solidFill>
                <a:latin typeface="Calibri"/>
              </a:rPr>
              <a:t>Wait, and someone procures a commercial alternative — and we spend three years working around its limitations.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Thank you. 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